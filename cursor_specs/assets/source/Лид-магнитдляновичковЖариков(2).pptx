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95" r:id="rId3"/>
    <p:sldId id="260" r:id="rId4"/>
    <p:sldId id="261" r:id="rId5"/>
    <p:sldId id="315" r:id="rId6"/>
    <p:sldId id="313" r:id="rId7"/>
    <p:sldId id="311" r:id="rId8"/>
    <p:sldId id="316" r:id="rId9"/>
    <p:sldId id="299" r:id="rId10"/>
    <p:sldId id="270" r:id="rId11"/>
    <p:sldId id="259" r:id="rId12"/>
    <p:sldId id="276" r:id="rId13"/>
    <p:sldId id="277" r:id="rId14"/>
    <p:sldId id="278" r:id="rId15"/>
    <p:sldId id="266" r:id="rId16"/>
    <p:sldId id="267" r:id="rId17"/>
    <p:sldId id="268" r:id="rId18"/>
    <p:sldId id="284" r:id="rId19"/>
    <p:sldId id="285" r:id="rId20"/>
    <p:sldId id="286" r:id="rId21"/>
    <p:sldId id="317" r:id="rId22"/>
    <p:sldId id="318" r:id="rId23"/>
    <p:sldId id="319" r:id="rId24"/>
    <p:sldId id="320" r:id="rId25"/>
    <p:sldId id="275" r:id="rId26"/>
    <p:sldId id="288" r:id="rId27"/>
    <p:sldId id="289" r:id="rId28"/>
    <p:sldId id="290" r:id="rId29"/>
    <p:sldId id="292" r:id="rId30"/>
    <p:sldId id="291" r:id="rId31"/>
    <p:sldId id="293" r:id="rId32"/>
  </p:sldIdLst>
  <p:sldSz cx="51482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 чего начать" id="{05371148-79EF-4F85-8343-7BB2B2DA79FE}">
          <p14:sldIdLst>
            <p14:sldId id="256"/>
            <p14:sldId id="295"/>
            <p14:sldId id="260"/>
            <p14:sldId id="261"/>
            <p14:sldId id="315"/>
          </p14:sldIdLst>
        </p14:section>
        <p14:section name="делаем первую покупку" id="{78022F49-B2E0-4C3B-9C52-2E16A1DAA9F5}">
          <p14:sldIdLst>
            <p14:sldId id="313"/>
            <p14:sldId id="311"/>
            <p14:sldId id="316"/>
            <p14:sldId id="299"/>
            <p14:sldId id="270"/>
          </p14:sldIdLst>
        </p14:section>
        <p14:section name="Как собрать портфель" id="{A8FC1A27-64AE-9645-B305-35D31A0D6D04}">
          <p14:sldIdLst>
            <p14:sldId id="259"/>
            <p14:sldId id="276"/>
            <p14:sldId id="277"/>
            <p14:sldId id="278"/>
          </p14:sldIdLst>
        </p14:section>
        <p14:section name="как избежать риска" id="{80DF541D-9457-4D74-A868-0F5AC5A31DC0}">
          <p14:sldIdLst>
            <p14:sldId id="266"/>
            <p14:sldId id="267"/>
            <p14:sldId id="268"/>
            <p14:sldId id="284"/>
            <p14:sldId id="285"/>
            <p14:sldId id="286"/>
          </p14:sldIdLst>
        </p14:section>
        <p14:section name="какой выбрать тариф" id="{D99E0367-CA0E-47A8-84BA-E9FDE52B7293}">
          <p14:sldIdLst>
            <p14:sldId id="317"/>
            <p14:sldId id="318"/>
            <p14:sldId id="319"/>
            <p14:sldId id="320"/>
            <p14:sldId id="275"/>
          </p14:sldIdLst>
        </p14:section>
        <p14:section name="Диверсификация" id="{1085E04D-9740-42B9-97DC-E671A330E23B}">
          <p14:sldIdLst>
            <p14:sldId id="288"/>
            <p14:sldId id="289"/>
            <p14:sldId id="290"/>
            <p14:sldId id="292"/>
            <p14:sldId id="291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ришутов Павел Николаевич" initials="ППН" lastIdx="5" clrIdx="0">
    <p:extLst>
      <p:ext uri="{19B8F6BF-5375-455C-9EA6-DF929625EA0E}">
        <p15:presenceInfo xmlns:p15="http://schemas.microsoft.com/office/powerpoint/2012/main" userId="S-1-5-21-556432934-4055514030-2234905267-252720" providerId="AD"/>
      </p:ext>
    </p:extLst>
  </p:cmAuthor>
  <p:cmAuthor id="2" name="Microsoft Office User" initials="MOU" lastIdx="14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83"/>
    <p:restoredTop sz="94670"/>
  </p:normalViewPr>
  <p:slideViewPr>
    <p:cSldViewPr snapToGrid="0">
      <p:cViewPr varScale="1">
        <p:scale>
          <a:sx n="78" d="100"/>
          <a:sy n="78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0:58:59.436" idx="1">
    <p:pos x="2469" y="2427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1:27:44.766" idx="3">
    <p:pos x="2777" y="73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1:39:49.641" idx="4">
    <p:pos x="2602" y="648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1:55:41.150" idx="5">
    <p:pos x="2983" y="854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1:55:47.995" idx="6">
    <p:pos x="2191" y="1358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01:26.762" idx="7">
    <p:pos x="2931" y="792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41:16.385" idx="10">
    <p:pos x="2921" y="699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29:45.993" idx="8">
    <p:pos x="2962" y="1142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31:55.795" idx="9">
    <p:pos x="2757" y="751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41:45.169" idx="11">
    <p:pos x="1625" y="782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41:49.726" idx="12">
    <p:pos x="1625" y="422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8T22:41:54.738" idx="13">
    <p:pos x="1625" y="473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120" y="1496484"/>
            <a:ext cx="4376024" cy="3183467"/>
          </a:xfrm>
        </p:spPr>
        <p:txBody>
          <a:bodyPr anchor="b"/>
          <a:lstStyle>
            <a:lvl1pPr algn="ctr">
              <a:defRPr sz="337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533" y="4802717"/>
            <a:ext cx="3861197" cy="2207683"/>
          </a:xfrm>
        </p:spPr>
        <p:txBody>
          <a:bodyPr/>
          <a:lstStyle>
            <a:lvl1pPr marL="0" indent="0" algn="ctr">
              <a:buNone/>
              <a:defRPr sz="1351"/>
            </a:lvl1pPr>
            <a:lvl2pPr marL="257404" indent="0" algn="ctr">
              <a:buNone/>
              <a:defRPr sz="1126"/>
            </a:lvl2pPr>
            <a:lvl3pPr marL="514807" indent="0" algn="ctr">
              <a:buNone/>
              <a:defRPr sz="1013"/>
            </a:lvl3pPr>
            <a:lvl4pPr marL="772211" indent="0" algn="ctr">
              <a:buNone/>
              <a:defRPr sz="901"/>
            </a:lvl4pPr>
            <a:lvl5pPr marL="1029614" indent="0" algn="ctr">
              <a:buNone/>
              <a:defRPr sz="901"/>
            </a:lvl5pPr>
            <a:lvl6pPr marL="1287018" indent="0" algn="ctr">
              <a:buNone/>
              <a:defRPr sz="901"/>
            </a:lvl6pPr>
            <a:lvl7pPr marL="1544422" indent="0" algn="ctr">
              <a:buNone/>
              <a:defRPr sz="901"/>
            </a:lvl7pPr>
            <a:lvl8pPr marL="1801825" indent="0" algn="ctr">
              <a:buNone/>
              <a:defRPr sz="901"/>
            </a:lvl8pPr>
            <a:lvl9pPr marL="2059229" indent="0" algn="ctr">
              <a:buNone/>
              <a:defRPr sz="901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408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90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262" y="2279653"/>
            <a:ext cx="4440377" cy="3803649"/>
          </a:xfrm>
        </p:spPr>
        <p:txBody>
          <a:bodyPr anchor="b"/>
          <a:lstStyle>
            <a:lvl1pPr>
              <a:defRPr sz="337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262" y="6119286"/>
            <a:ext cx="4440377" cy="2000249"/>
          </a:xfrm>
        </p:spPr>
        <p:txBody>
          <a:bodyPr/>
          <a:lstStyle>
            <a:lvl1pPr marL="0" indent="0">
              <a:buNone/>
              <a:defRPr sz="1351">
                <a:solidFill>
                  <a:schemeClr val="tx1"/>
                </a:solidFill>
              </a:defRPr>
            </a:lvl1pPr>
            <a:lvl2pPr marL="257404" indent="0">
              <a:buNone/>
              <a:defRPr sz="1126">
                <a:solidFill>
                  <a:schemeClr val="tx1">
                    <a:tint val="75000"/>
                  </a:schemeClr>
                </a:solidFill>
              </a:defRPr>
            </a:lvl2pPr>
            <a:lvl3pPr marL="514807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2211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4pPr>
            <a:lvl5pPr marL="1029614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5pPr>
            <a:lvl6pPr marL="1287018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6pPr>
            <a:lvl7pPr marL="1544422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7pPr>
            <a:lvl8pPr marL="1801825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8pPr>
            <a:lvl9pPr marL="2059229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79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943" y="2434167"/>
            <a:ext cx="2188012" cy="58017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6308" y="2434167"/>
            <a:ext cx="2188012" cy="58017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68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614" y="486835"/>
            <a:ext cx="4440377" cy="17674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614" y="2241551"/>
            <a:ext cx="2177956" cy="1098549"/>
          </a:xfrm>
        </p:spPr>
        <p:txBody>
          <a:bodyPr anchor="b"/>
          <a:lstStyle>
            <a:lvl1pPr marL="0" indent="0">
              <a:buNone/>
              <a:defRPr sz="1351" b="1"/>
            </a:lvl1pPr>
            <a:lvl2pPr marL="257404" indent="0">
              <a:buNone/>
              <a:defRPr sz="1126" b="1"/>
            </a:lvl2pPr>
            <a:lvl3pPr marL="514807" indent="0">
              <a:buNone/>
              <a:defRPr sz="1013" b="1"/>
            </a:lvl3pPr>
            <a:lvl4pPr marL="772211" indent="0">
              <a:buNone/>
              <a:defRPr sz="901" b="1"/>
            </a:lvl4pPr>
            <a:lvl5pPr marL="1029614" indent="0">
              <a:buNone/>
              <a:defRPr sz="901" b="1"/>
            </a:lvl5pPr>
            <a:lvl6pPr marL="1287018" indent="0">
              <a:buNone/>
              <a:defRPr sz="901" b="1"/>
            </a:lvl6pPr>
            <a:lvl7pPr marL="1544422" indent="0">
              <a:buNone/>
              <a:defRPr sz="901" b="1"/>
            </a:lvl7pPr>
            <a:lvl8pPr marL="1801825" indent="0">
              <a:buNone/>
              <a:defRPr sz="901" b="1"/>
            </a:lvl8pPr>
            <a:lvl9pPr marL="2059229" indent="0">
              <a:buNone/>
              <a:defRPr sz="90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614" y="3340100"/>
            <a:ext cx="2177956" cy="49127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6309" y="2241551"/>
            <a:ext cx="2188682" cy="1098549"/>
          </a:xfrm>
        </p:spPr>
        <p:txBody>
          <a:bodyPr anchor="b"/>
          <a:lstStyle>
            <a:lvl1pPr marL="0" indent="0">
              <a:buNone/>
              <a:defRPr sz="1351" b="1"/>
            </a:lvl1pPr>
            <a:lvl2pPr marL="257404" indent="0">
              <a:buNone/>
              <a:defRPr sz="1126" b="1"/>
            </a:lvl2pPr>
            <a:lvl3pPr marL="514807" indent="0">
              <a:buNone/>
              <a:defRPr sz="1013" b="1"/>
            </a:lvl3pPr>
            <a:lvl4pPr marL="772211" indent="0">
              <a:buNone/>
              <a:defRPr sz="901" b="1"/>
            </a:lvl4pPr>
            <a:lvl5pPr marL="1029614" indent="0">
              <a:buNone/>
              <a:defRPr sz="901" b="1"/>
            </a:lvl5pPr>
            <a:lvl6pPr marL="1287018" indent="0">
              <a:buNone/>
              <a:defRPr sz="901" b="1"/>
            </a:lvl6pPr>
            <a:lvl7pPr marL="1544422" indent="0">
              <a:buNone/>
              <a:defRPr sz="901" b="1"/>
            </a:lvl7pPr>
            <a:lvl8pPr marL="1801825" indent="0">
              <a:buNone/>
              <a:defRPr sz="901" b="1"/>
            </a:lvl8pPr>
            <a:lvl9pPr marL="2059229" indent="0">
              <a:buNone/>
              <a:defRPr sz="90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6309" y="3340100"/>
            <a:ext cx="2188682" cy="49127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95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15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77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614" y="609600"/>
            <a:ext cx="1660449" cy="2133600"/>
          </a:xfrm>
        </p:spPr>
        <p:txBody>
          <a:bodyPr anchor="b"/>
          <a:lstStyle>
            <a:lvl1pPr>
              <a:defRPr sz="180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8682" y="1316568"/>
            <a:ext cx="2606308" cy="6498167"/>
          </a:xfrm>
        </p:spPr>
        <p:txBody>
          <a:bodyPr/>
          <a:lstStyle>
            <a:lvl1pPr>
              <a:defRPr sz="1802"/>
            </a:lvl1pPr>
            <a:lvl2pPr>
              <a:defRPr sz="1576"/>
            </a:lvl2pPr>
            <a:lvl3pPr>
              <a:defRPr sz="1351"/>
            </a:lvl3pPr>
            <a:lvl4pPr>
              <a:defRPr sz="1126"/>
            </a:lvl4pPr>
            <a:lvl5pPr>
              <a:defRPr sz="1126"/>
            </a:lvl5pPr>
            <a:lvl6pPr>
              <a:defRPr sz="1126"/>
            </a:lvl6pPr>
            <a:lvl7pPr>
              <a:defRPr sz="1126"/>
            </a:lvl7pPr>
            <a:lvl8pPr>
              <a:defRPr sz="1126"/>
            </a:lvl8pPr>
            <a:lvl9pPr>
              <a:defRPr sz="112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614" y="2743200"/>
            <a:ext cx="1660449" cy="5082117"/>
          </a:xfrm>
        </p:spPr>
        <p:txBody>
          <a:bodyPr/>
          <a:lstStyle>
            <a:lvl1pPr marL="0" indent="0">
              <a:buNone/>
              <a:defRPr sz="901"/>
            </a:lvl1pPr>
            <a:lvl2pPr marL="257404" indent="0">
              <a:buNone/>
              <a:defRPr sz="788"/>
            </a:lvl2pPr>
            <a:lvl3pPr marL="514807" indent="0">
              <a:buNone/>
              <a:defRPr sz="676"/>
            </a:lvl3pPr>
            <a:lvl4pPr marL="772211" indent="0">
              <a:buNone/>
              <a:defRPr sz="563"/>
            </a:lvl4pPr>
            <a:lvl5pPr marL="1029614" indent="0">
              <a:buNone/>
              <a:defRPr sz="563"/>
            </a:lvl5pPr>
            <a:lvl6pPr marL="1287018" indent="0">
              <a:buNone/>
              <a:defRPr sz="563"/>
            </a:lvl6pPr>
            <a:lvl7pPr marL="1544422" indent="0">
              <a:buNone/>
              <a:defRPr sz="563"/>
            </a:lvl7pPr>
            <a:lvl8pPr marL="1801825" indent="0">
              <a:buNone/>
              <a:defRPr sz="563"/>
            </a:lvl8pPr>
            <a:lvl9pPr marL="2059229" indent="0">
              <a:buNone/>
              <a:defRPr sz="56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53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614" y="609600"/>
            <a:ext cx="1660449" cy="2133600"/>
          </a:xfrm>
        </p:spPr>
        <p:txBody>
          <a:bodyPr anchor="b"/>
          <a:lstStyle>
            <a:lvl1pPr>
              <a:defRPr sz="180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8682" y="1316568"/>
            <a:ext cx="2606308" cy="6498167"/>
          </a:xfrm>
        </p:spPr>
        <p:txBody>
          <a:bodyPr anchor="t"/>
          <a:lstStyle>
            <a:lvl1pPr marL="0" indent="0">
              <a:buNone/>
              <a:defRPr sz="1802"/>
            </a:lvl1pPr>
            <a:lvl2pPr marL="257404" indent="0">
              <a:buNone/>
              <a:defRPr sz="1576"/>
            </a:lvl2pPr>
            <a:lvl3pPr marL="514807" indent="0">
              <a:buNone/>
              <a:defRPr sz="1351"/>
            </a:lvl3pPr>
            <a:lvl4pPr marL="772211" indent="0">
              <a:buNone/>
              <a:defRPr sz="1126"/>
            </a:lvl4pPr>
            <a:lvl5pPr marL="1029614" indent="0">
              <a:buNone/>
              <a:defRPr sz="1126"/>
            </a:lvl5pPr>
            <a:lvl6pPr marL="1287018" indent="0">
              <a:buNone/>
              <a:defRPr sz="1126"/>
            </a:lvl6pPr>
            <a:lvl7pPr marL="1544422" indent="0">
              <a:buNone/>
              <a:defRPr sz="1126"/>
            </a:lvl7pPr>
            <a:lvl8pPr marL="1801825" indent="0">
              <a:buNone/>
              <a:defRPr sz="1126"/>
            </a:lvl8pPr>
            <a:lvl9pPr marL="2059229" indent="0">
              <a:buNone/>
              <a:defRPr sz="1126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614" y="2743200"/>
            <a:ext cx="1660449" cy="5082117"/>
          </a:xfrm>
        </p:spPr>
        <p:txBody>
          <a:bodyPr/>
          <a:lstStyle>
            <a:lvl1pPr marL="0" indent="0">
              <a:buNone/>
              <a:defRPr sz="901"/>
            </a:lvl1pPr>
            <a:lvl2pPr marL="257404" indent="0">
              <a:buNone/>
              <a:defRPr sz="788"/>
            </a:lvl2pPr>
            <a:lvl3pPr marL="514807" indent="0">
              <a:buNone/>
              <a:defRPr sz="676"/>
            </a:lvl3pPr>
            <a:lvl4pPr marL="772211" indent="0">
              <a:buNone/>
              <a:defRPr sz="563"/>
            </a:lvl4pPr>
            <a:lvl5pPr marL="1029614" indent="0">
              <a:buNone/>
              <a:defRPr sz="563"/>
            </a:lvl5pPr>
            <a:lvl6pPr marL="1287018" indent="0">
              <a:buNone/>
              <a:defRPr sz="563"/>
            </a:lvl6pPr>
            <a:lvl7pPr marL="1544422" indent="0">
              <a:buNone/>
              <a:defRPr sz="563"/>
            </a:lvl7pPr>
            <a:lvl8pPr marL="1801825" indent="0">
              <a:buNone/>
              <a:defRPr sz="563"/>
            </a:lvl8pPr>
            <a:lvl9pPr marL="2059229" indent="0">
              <a:buNone/>
              <a:defRPr sz="56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01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5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4226" y="486833"/>
            <a:ext cx="1110094" cy="77491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944" y="486833"/>
            <a:ext cx="3265929" cy="77491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8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943" y="486835"/>
            <a:ext cx="4440377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943" y="2434167"/>
            <a:ext cx="4440377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943" y="8475136"/>
            <a:ext cx="115835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F1D45-57DC-C54B-8CC3-951EF88CB461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5362" y="8475136"/>
            <a:ext cx="173753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961" y="8475136"/>
            <a:ext cx="115835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9B327-CAC7-5442-BE49-902223F478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53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4807" rtl="0" eaLnBrk="1" latinLnBrk="0" hangingPunct="1">
        <a:lnSpc>
          <a:spcPct val="90000"/>
        </a:lnSpc>
        <a:spcBef>
          <a:spcPct val="0"/>
        </a:spcBef>
        <a:buNone/>
        <a:defRPr sz="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702" indent="-128702" algn="l" defTabSz="514807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6105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43509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126" kern="1200">
          <a:solidFill>
            <a:schemeClr val="tx1"/>
          </a:solidFill>
          <a:latin typeface="+mn-lt"/>
          <a:ea typeface="+mn-ea"/>
          <a:cs typeface="+mn-cs"/>
        </a:defRPr>
      </a:lvl3pPr>
      <a:lvl4pPr marL="900913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8316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5720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3123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30527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7931" indent="-128702" algn="l" defTabSz="514807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404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807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2211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614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7018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4422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1825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9229" algn="l" defTabSz="51480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finam.ru/course/kak-torgovat-obligaciiami/" TargetMode="External"/><Relationship Id="rId2" Type="http://schemas.openxmlformats.org/officeDocument/2006/relationships/hyperlink" Target="https://education.finam.ru/course/bystryi-star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ucation.finam.ru/course/kak-torgovat-akciiami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hyperlink" Target="https://www.comon.ru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EA08A-4E7F-48BE-DE0D-9B2782874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чего начать?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1FA5A9-41A3-AF30-49A8-2260DBB18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88BF223F-AFD7-45C4-AA9E-C4F072DDFBCB}"/>
              </a:ext>
            </a:extLst>
          </p:cNvPr>
          <p:cNvSpPr/>
          <p:nvPr/>
        </p:nvSpPr>
        <p:spPr>
          <a:xfrm rot="16200000">
            <a:off x="-115846" y="3879890"/>
            <a:ext cx="5733900" cy="479432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61863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Инвестиции без опыта — это реально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нужно быть аналитиком или трейдером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Готовые решения работают за вас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Подходят даже новичкам с нулевыми знаниями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Всё в одном приложении: брокер, сигналы, курсы и поддержка</a:t>
            </a: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829FD2B8-5E91-4D3E-99FA-A832D26C487D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16348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E726D0A5-1D06-4387-BFE9-425950AB49AF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2" y="1131938"/>
            <a:ext cx="4440377" cy="5029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Инвестиции — вложение денег сегодня, чтобы они росли завтра.</a:t>
            </a: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Истинные цели инвестиций:</a:t>
            </a:r>
          </a:p>
          <a:p>
            <a:pPr>
              <a:spcAft>
                <a:spcPts val="300"/>
              </a:spcAft>
            </a:pP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Обгонять инфляцию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Создать пассивный доход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spcAft>
                <a:spcPts val="3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Накопить «подушку безопасности»</a:t>
            </a:r>
          </a:p>
          <a:p>
            <a:pPr>
              <a:spcAft>
                <a:spcPts val="3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Достичь финансовых целей.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991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979500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понятия инвестирования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996778"/>
            <a:ext cx="4440377" cy="7239173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Ценная бумага — право на актив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Доход — это финансовая награда за терпение и дисциплину. 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Экономика — бизнес страны. </a:t>
            </a:r>
          </a:p>
          <a:p>
            <a:r>
              <a:rPr lang="ru-RU" sz="1800" i="0" u="none" strike="noStrike" dirty="0">
                <a:solidFill>
                  <a:srgbClr val="1B1F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Биржа</a:t>
            </a:r>
            <a:r>
              <a:rPr lang="ru-RU" sz="1800" b="0" i="0" u="none" strike="noStrike" dirty="0">
                <a:solidFill>
                  <a:srgbClr val="1B1F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площадка для торговли, например, Московская и Санкт-Петербургская (СПБ).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СТА кнопка на Глоссарий</a:t>
            </a:r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DA2C86DB-C32D-4826-80C3-8F3AF17258B8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1235729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979500"/>
          </a:xfrm>
        </p:spPr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Начинаем инвестировать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853076"/>
            <a:ext cx="4440377" cy="6382875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/>
              <a:t>Сделайте первое пополнение счета, что бы иметь возможность быстро купить интересующие инструменты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При пополнение на сумму от 30к получите дополнительный бонус </a:t>
            </a:r>
            <a:r>
              <a:rPr lang="ru-RU" sz="1800" dirty="0" err="1"/>
              <a:t>финам</a:t>
            </a:r>
            <a:r>
              <a:rPr lang="ru-RU" sz="1800" dirty="0"/>
              <a:t> до 1500 бонусов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КНОПКА (СТА) ведет на форму пополнения</a:t>
            </a:r>
            <a:br>
              <a:rPr lang="ru-RU" dirty="0"/>
            </a:br>
            <a:r>
              <a:rPr lang="ru-RU" dirty="0"/>
              <a:t>"Пополните счёт — получите </a:t>
            </a:r>
            <a:br>
              <a:rPr lang="ru-RU" dirty="0"/>
            </a:br>
            <a:r>
              <a:rPr lang="ru-RU" dirty="0"/>
              <a:t>до 1500 бонусов"</a:t>
            </a:r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DA2C86DB-C32D-4826-80C3-8F3AF17258B8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956260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ый треугольник 5">
            <a:extLst>
              <a:ext uri="{FF2B5EF4-FFF2-40B4-BE49-F238E27FC236}">
                <a16:creationId xmlns:a16="http://schemas.microsoft.com/office/drawing/2014/main" id="{42C3BDA0-D5DA-49D5-8129-A3B472EF214C}"/>
              </a:ext>
            </a:extLst>
          </p:cNvPr>
          <p:cNvSpPr/>
          <p:nvPr/>
        </p:nvSpPr>
        <p:spPr>
          <a:xfrm rot="16200000">
            <a:off x="-115846" y="3879890"/>
            <a:ext cx="5733900" cy="479432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2C4B6-3F82-4BA5-A08E-DD1F00FB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Делаем первую покупку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C4E5CD6-8987-4CA5-8DA9-F311F0ECA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2" y="1961690"/>
            <a:ext cx="4440377" cy="6695475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35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70D30AA0-B453-425F-814A-0A7E8CFF3F5B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Правила инвестирования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836892"/>
            <a:ext cx="4440377" cy="6399059"/>
          </a:xfrm>
        </p:spPr>
        <p:txBody>
          <a:bodyPr>
            <a:normAutofit/>
          </a:bodyPr>
          <a:lstStyle/>
          <a:p>
            <a:r>
              <a:rPr lang="ru-RU" dirty="0"/>
              <a:t>Начинайте с небольших вложений.</a:t>
            </a:r>
          </a:p>
          <a:p>
            <a:r>
              <a:rPr lang="ru-RU" dirty="0"/>
              <a:t>Лучше выбрать несколько инструментов чтобы разнообразить ваш портфель и избежать возможность просадки</a:t>
            </a:r>
          </a:p>
          <a:p>
            <a:r>
              <a:rPr lang="ru-RU" dirty="0"/>
              <a:t>Не гонитесь за доходностью и следите за рисками</a:t>
            </a:r>
          </a:p>
          <a:p>
            <a:r>
              <a:rPr lang="ru-RU" dirty="0"/>
              <a:t>Начинайте с консервативных инструментов</a:t>
            </a:r>
          </a:p>
        </p:txBody>
      </p:sp>
    </p:spTree>
    <p:extLst>
      <p:ext uri="{BB962C8B-B14F-4D97-AF65-F5344CB8AC3E}">
        <p14:creationId xmlns:p14="http://schemas.microsoft.com/office/powerpoint/2010/main" val="357776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70D30AA0-B453-425F-814A-0A7E8CFF3F5B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Выберите инструмент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836892"/>
            <a:ext cx="4440377" cy="6399059"/>
          </a:xfrm>
        </p:spPr>
        <p:txBody>
          <a:bodyPr>
            <a:normAutofit/>
          </a:bodyPr>
          <a:lstStyle/>
          <a:p>
            <a:endParaRPr lang="ru-RU" dirty="0"/>
          </a:p>
          <a:p>
            <a:pPr algn="l"/>
            <a:r>
              <a:rPr lang="ru-RU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Акции</a:t>
            </a:r>
            <a: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 — доля в компании </a:t>
            </a:r>
          </a:p>
          <a:p>
            <a:pPr algn="l"/>
            <a:endParaRPr lang="ru-RU" dirty="0">
              <a:solidFill>
                <a:srgbClr val="1B1F23"/>
              </a:solidFill>
              <a:latin typeface="Manrope" pitchFamily="2" charset="0"/>
            </a:endParaRPr>
          </a:p>
          <a:p>
            <a:pPr algn="l"/>
            <a:r>
              <a:rPr lang="ru-RU" dirty="0">
                <a:solidFill>
                  <a:srgbClr val="1B1F23"/>
                </a:solidFill>
                <a:latin typeface="Manrope" pitchFamily="2" charset="0"/>
              </a:rPr>
              <a:t>Облигации – даем к долг компаниям или государству</a:t>
            </a:r>
          </a:p>
          <a:p>
            <a:pPr algn="l"/>
            <a:endParaRPr lang="ru-RU" dirty="0">
              <a:solidFill>
                <a:srgbClr val="1B1F23"/>
              </a:solidFill>
              <a:latin typeface="Manrope" pitchFamily="2" charset="0"/>
            </a:endParaRPr>
          </a:p>
          <a:p>
            <a:r>
              <a:rPr lang="en" dirty="0"/>
              <a:t>ETF (</a:t>
            </a:r>
            <a:r>
              <a:rPr lang="ru-RU" dirty="0"/>
              <a:t>Биржевой инвестиционный фонд) или ПИФ — это ценная бумага, которая повторяет состав и доходность выбранного базового индекса, сектора экономики, товара или иного актива, но торгуется на бирже как обычная акция.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470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выбрать первый инструмент?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старта подойдут: ОФЗ, акции </a:t>
            </a:r>
            <a:r>
              <a:rPr lang="ru-RU" sz="1800" b="0" i="0" dirty="0" err="1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Сбер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/Газпром, </a:t>
            </a:r>
            <a:r>
              <a:rPr lang="en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ETF 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MOEX</a:t>
            </a:r>
            <a:endParaRPr lang="ru-RU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Минимальный порог входа — от 1 000 ₽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Выбирайте ликвидные активы с прозрачной историей</a:t>
            </a:r>
          </a:p>
          <a:p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КНОПКА</a:t>
            </a:r>
          </a:p>
          <a:p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Ведем на магазин продуктов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A7304A95-15A4-4A27-BE82-B7A92925377D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38501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Готовы узнать больше?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i="0" u="sng" strike="noStrike" dirty="0">
                <a:effectLst/>
                <a:latin typeface="var(--ui-fonts-main)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Чтобы начать безопасный путь в инвестициях и приумножении своих накоплений, компанда «Финам» подготовила обучающий курс</a:t>
            </a:r>
            <a:r>
              <a:rPr lang="ru-RU" b="1" i="0" u="none" strike="noStrike" dirty="0">
                <a:solidFill>
                  <a:srgbClr val="0563C1"/>
                </a:solidFill>
                <a:effectLst/>
                <a:latin typeface="var(--ui-fonts-main)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Быстрый старт</a:t>
            </a:r>
            <a:endParaRPr lang="ru-RU" b="1" i="0" u="none" strike="noStrike" dirty="0">
              <a:effectLst/>
              <a:latin typeface="var(--ui-fonts-main)"/>
            </a:endParaRPr>
          </a:p>
          <a:p>
            <a:br>
              <a:rPr lang="ru-RU" dirty="0"/>
            </a:br>
            <a:r>
              <a:rPr lang="ru-RU" dirty="0"/>
              <a:t>Чтобы узнать больше про инвестиционные инструменты, будет полезно изучить курсы:</a:t>
            </a:r>
          </a:p>
          <a:p>
            <a:r>
              <a:rPr lang="ru-RU" b="1" i="0" u="none" strike="noStrike" dirty="0">
                <a:effectLst/>
                <a:latin typeface="var(--ui-fonts-main)"/>
                <a:hlinkClick r:id="rId3"/>
              </a:rPr>
              <a:t>Как торговать облигациями?</a:t>
            </a:r>
            <a:endParaRPr lang="ru-RU" b="1" i="0" u="none" strike="noStrike" dirty="0">
              <a:effectLst/>
              <a:latin typeface="var(--ui-fonts-main)"/>
            </a:endParaRPr>
          </a:p>
          <a:p>
            <a:pPr algn="l"/>
            <a:r>
              <a:rPr lang="ru-RU" b="1" i="0" u="none" strike="noStrike" dirty="0">
                <a:effectLst/>
                <a:latin typeface="var(--ui-fonts-main)"/>
                <a:hlinkClick r:id="rId4"/>
              </a:rPr>
              <a:t>Как торговать акциями?</a:t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E8B5279A-4AE8-4105-8B5D-73C6B523511D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14197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EA08A-4E7F-48BE-DE0D-9B2782874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собрать первый портфель</a:t>
            </a:r>
            <a:b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1FA5A9-41A3-AF30-49A8-2260DBB18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0939B3A6-43F1-476C-86ED-C418E15C1E90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673598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90A3AE83-F301-49ED-A96C-42C47F17D9E2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5"/>
            <a:ext cx="4440377" cy="998093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Принципы формирования инвестиционного портфеля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326292"/>
            <a:ext cx="4440377" cy="4712043"/>
          </a:xfrm>
        </p:spPr>
        <p:txBody>
          <a:bodyPr>
            <a:normAutofit/>
          </a:bodyPr>
          <a:lstStyle/>
          <a:p>
            <a:r>
              <a:rPr lang="ru-RU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Первым делом Определите цель, срок и риск. </a:t>
            </a:r>
          </a:p>
          <a:p>
            <a:endParaRPr lang="ru-RU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Выберите инструменты под свой профиль</a:t>
            </a:r>
          </a:p>
          <a:p>
            <a:pPr marL="0" indent="0">
              <a:buNone/>
            </a:pPr>
            <a:endParaRPr lang="ru-RU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Распределите капитал: акции, облигации и ПИФы</a:t>
            </a:r>
          </a:p>
          <a:p>
            <a:pPr algn="l"/>
            <a:endParaRPr lang="ru-RU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Регулярно ребалансируйте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портфель</a:t>
            </a:r>
          </a:p>
          <a:p>
            <a:pPr algn="l"/>
            <a:endParaRPr lang="ru-RU" sz="18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87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90536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Образцовая структура портфеля для начинающих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392196"/>
            <a:ext cx="4440377" cy="6843755"/>
          </a:xfrm>
        </p:spPr>
        <p:txBody>
          <a:bodyPr/>
          <a:lstStyle/>
          <a:p>
            <a:r>
              <a:rPr lang="ru-RU" dirty="0"/>
              <a:t>Идеальная структура портфеля для новичка — это комбинация «сердце» и «мозг».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Сердце (40–50%)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рост</a:t>
            </a:r>
            <a:br>
              <a:rPr lang="ru-RU" dirty="0"/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Глобальные 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ETF, 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акции лидеров</a:t>
            </a:r>
            <a:r>
              <a:rPr lang="ru-RU" dirty="0"/>
              <a:t>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Мозг (50–60%)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защита</a:t>
            </a:r>
            <a:br>
              <a:rPr lang="ru-RU" dirty="0"/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ОФЗ, облигации, денежный резерв</a:t>
            </a:r>
            <a:endParaRPr lang="ru-RU" dirty="0"/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DCF4E384-2702-4E92-A583-BE04CE7815A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4255312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658224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Баланс риска и доходности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219201"/>
            <a:ext cx="4440377" cy="5305167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Для баланса риска и доходности, требуется распределить деньги между двумя портфелями: активным и пассивным</a:t>
            </a:r>
            <a:b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</a:br>
            <a:endParaRPr lang="ru-RU" b="0" i="0" u="none" strike="noStrike" dirty="0">
              <a:solidFill>
                <a:srgbClr val="1B1F23"/>
              </a:solidFill>
              <a:effectLst/>
              <a:latin typeface="Manrope" pitchFamily="2" charset="0"/>
            </a:endParaRPr>
          </a:p>
          <a:p>
            <a:pPr algn="l"/>
            <a:r>
              <a:rPr lang="ru-RU" b="1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Пассивный – минимум участия</a:t>
            </a:r>
            <a:r>
              <a:rPr lang="ru-RU" b="1" dirty="0">
                <a:solidFill>
                  <a:srgbClr val="1B1F23"/>
                </a:solidFill>
                <a:latin typeface="Manrope" pitchFamily="2" charset="0"/>
              </a:rPr>
              <a:t>, а</a:t>
            </a:r>
            <a:r>
              <a:rPr lang="ru-RU" b="1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 </a:t>
            </a:r>
            <a: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на сервисе </a:t>
            </a:r>
            <a:r>
              <a:rPr lang="ru-RU" b="0" i="0" u="sng" strike="noStrike" dirty="0">
                <a:solidFill>
                  <a:srgbClr val="FFC75A"/>
                </a:solidFill>
                <a:effectLst/>
                <a:latin typeface="Manrope" pitchFamily="2" charset="0"/>
                <a:hlinkClick r:id="rId2"/>
              </a:rPr>
              <a:t>Финам Автоследование</a:t>
            </a:r>
            <a:r>
              <a:rPr lang="ru-RU" dirty="0">
                <a:solidFill>
                  <a:srgbClr val="1B1F23"/>
                </a:solidFill>
                <a:latin typeface="Manrope" pitchFamily="2" charset="0"/>
              </a:rPr>
              <a:t> торгуют за вас</a:t>
            </a:r>
            <a:endParaRPr lang="ru-RU" b="0" i="0" u="none" strike="noStrike" dirty="0">
              <a:solidFill>
                <a:srgbClr val="1B1F23"/>
              </a:solidFill>
              <a:effectLst/>
              <a:latin typeface="Manrope" pitchFamily="2" charset="0"/>
            </a:endParaRPr>
          </a:p>
          <a:p>
            <a:pPr algn="l"/>
            <a:endParaRPr lang="ru-RU" b="0" i="0" u="none" strike="noStrike" dirty="0">
              <a:solidFill>
                <a:srgbClr val="1B1F23"/>
              </a:solidFill>
              <a:effectLst/>
              <a:latin typeface="Manrope" pitchFamily="2" charset="0"/>
            </a:endParaRPr>
          </a:p>
          <a:p>
            <a:pPr algn="l"/>
            <a:r>
              <a:rPr lang="ru-RU" b="1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Активный портфель</a:t>
            </a:r>
            <a: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 </a:t>
            </a:r>
            <a:r>
              <a:rPr lang="ru-RU" b="1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 –</a:t>
            </a:r>
            <a: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 вы сами </a:t>
            </a:r>
            <a:r>
              <a:rPr lang="ru-RU" u="none" strike="noStrike" dirty="0">
                <a:solidFill>
                  <a:srgbClr val="2C2C36"/>
                </a:solidFill>
                <a:latin typeface="system-ui"/>
              </a:rPr>
              <a:t>а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нализируете, входите, управляете</a:t>
            </a:r>
            <a: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.</a:t>
            </a:r>
          </a:p>
          <a:p>
            <a:pPr algn="l"/>
            <a:endParaRPr lang="ru-RU" dirty="0">
              <a:solidFill>
                <a:srgbClr val="1B1F23"/>
              </a:solidFill>
              <a:latin typeface="Manrope" pitchFamily="2" charset="0"/>
            </a:endParaRPr>
          </a:p>
          <a:p>
            <a:pPr algn="l"/>
            <a:endParaRPr lang="ru-RU" b="0" i="0" u="none" strike="noStrike" dirty="0">
              <a:solidFill>
                <a:srgbClr val="1B1F23"/>
              </a:solidFill>
              <a:effectLst/>
              <a:latin typeface="Manrope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1B1F23"/>
                </a:solidFill>
                <a:latin typeface="Manrope" pitchFamily="2" charset="0"/>
              </a:rPr>
              <a:t>СТА ведет на готовые стратегии</a:t>
            </a:r>
            <a:br>
              <a:rPr lang="ru-RU" dirty="0">
                <a:solidFill>
                  <a:srgbClr val="1B1F23"/>
                </a:solidFill>
                <a:latin typeface="Manrope" pitchFamily="2" charset="0"/>
              </a:rPr>
            </a:br>
            <a:r>
              <a:rPr lang="ru-RU" dirty="0">
                <a:solidFill>
                  <a:srgbClr val="1B1F23"/>
                </a:solidFill>
                <a:latin typeface="Manrope" pitchFamily="2" charset="0"/>
              </a:rPr>
              <a:t>"Соберите портфель как профессионал"</a:t>
            </a:r>
            <a:endParaRPr lang="ru-RU" b="0" i="0" u="none" strike="noStrike" dirty="0">
              <a:solidFill>
                <a:srgbClr val="1B1F23"/>
              </a:solidFill>
              <a:effectLst/>
              <a:latin typeface="Manrope" pitchFamily="2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F0CE06EE-784E-4FE0-9401-670A876A2B40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225408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67FC476C-975A-4688-962B-06C6BF24F2CC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1292538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избежать рисков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34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218485"/>
            <a:ext cx="4440377" cy="1223137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Возможные риски инвестирования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079157"/>
            <a:ext cx="4440377" cy="7846358"/>
          </a:xfrm>
        </p:spPr>
        <p:txBody>
          <a:bodyPr>
            <a:norm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Риск потери капитала.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ена актива упадет, и при продаже вы получите меньше, чем вложили. 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Риск низкой ликвидности.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Невозможность быстро продать актив по рыночной стоимости. 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Кредитный риск (Риск дефолта).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митент облигации не выплатит купонный доход или не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займ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 ведет на курс «Как создать портфель</a:t>
            </a: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"Узнайте, как сохранить депозит в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любых условиях"</a:t>
            </a:r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71AC1122-CF1E-4B0A-BB85-24EF37A72F4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6" name="Прямоугольный треугольник 5">
            <a:extLst>
              <a:ext uri="{FF2B5EF4-FFF2-40B4-BE49-F238E27FC236}">
                <a16:creationId xmlns:a16="http://schemas.microsoft.com/office/drawing/2014/main" id="{FBA4B621-A154-4B48-A824-20513F3368DE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831874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B71939FB-1CB9-4F97-A0D6-F6CE91DAB321}"/>
              </a:ext>
            </a:extLst>
          </p:cNvPr>
          <p:cNvSpPr/>
          <p:nvPr/>
        </p:nvSpPr>
        <p:spPr>
          <a:xfrm rot="16200000">
            <a:off x="-115847" y="3879890"/>
            <a:ext cx="5733900" cy="4794320"/>
          </a:xfrm>
          <a:prstGeom prst="rt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2" y="0"/>
            <a:ext cx="4440377" cy="1767417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Зашита от потерь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2" y="1292538"/>
            <a:ext cx="4440377" cy="6456578"/>
          </a:xfrm>
        </p:spPr>
        <p:txBody>
          <a:bodyPr/>
          <a:lstStyle/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Покупайте акции и ETF для вложений в целые отрасли</a:t>
            </a:r>
          </a:p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Инвестируйте только в ликвидные, входящие в биржевые индексы. </a:t>
            </a:r>
          </a:p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начале инвестируйте в государственные облигации</a:t>
            </a:r>
          </a:p>
          <a:p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Добавляйте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портфель акции, ETF на товары (золото) и инструменты, чья доходность привязана к уровню инфляции </a:t>
            </a:r>
          </a:p>
          <a:p>
            <a:pPr algn="ctr"/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Подробнее про стратегии защиты (ссылка на курс хеджирование)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Диверсифицировать портфель (ссылка на инструменты)</a:t>
            </a:r>
          </a:p>
          <a:p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9988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Надежные инструменты для новичков</a:t>
            </a:r>
            <a:r>
              <a:rPr lang="ru-RU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993295"/>
            <a:ext cx="4440377" cy="580178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значит «без риска» — значит «минимальная волатильность».</a:t>
            </a:r>
            <a:endParaRPr lang="en-US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ru-RU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Подходят для старта и защиты капитала.</a:t>
            </a:r>
            <a:endParaRPr lang="en-US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ru-RU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— надёжность эмитента и прозрачность инструмента.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8C17FCBE-783C-46C0-9EB9-AE57FA819181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1460162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131806"/>
            <a:ext cx="4440377" cy="1021492"/>
          </a:xfrm>
        </p:spPr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Государственные и корпоративные облигации</a:t>
            </a:r>
            <a:r>
              <a:rPr lang="ru-RU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153298"/>
            <a:ext cx="4440377" cy="708265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Государственные облигации (ОФЗ)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Выпускает Минфин РФ</a:t>
            </a:r>
            <a:b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Доходность выше депозита</a:t>
            </a:r>
            <a:b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Ликвидны: можно продать в любой момент</a:t>
            </a:r>
          </a:p>
          <a:p>
            <a:pPr marL="0" indent="0" algn="l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Корпоративные облигации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Эмитенты: </a:t>
            </a:r>
            <a:r>
              <a:rPr lang="ru-RU" sz="1800" dirty="0" err="1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Сбер</a:t>
            </a: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Газпром, РЖД</a:t>
            </a:r>
            <a:b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Доходность выше ОФЗ</a:t>
            </a:r>
            <a:b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Только с рейтингом «инвестиционный класс»</a:t>
            </a: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C658B9DA-503A-4BDB-AB8B-B7F33A003229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53937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с защитой капитала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927654"/>
            <a:ext cx="4440377" cy="6308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Структурные продукты с гарантией возврата 100% 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Доход зависит от поведения актива (например, индекса ММВБ) 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Подходят для консервативных инвесторов 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  <a:p>
            <a:pPr marL="0" indent="0">
              <a:buNone/>
            </a:pPr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НА ЛЕНДИНГ С ПРОДУКТАМИ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624AA959-8F03-41D0-87F8-4B990A071756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561794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226" y="2962998"/>
            <a:ext cx="4440377" cy="1767417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Какой тариф выбрать</a:t>
            </a:r>
            <a:endParaRPr lang="ru-RU" dirty="0"/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E1E8B12-3997-454C-8EE2-100DE8E6B6E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13ED6B-AE96-8205-1F49-318D3F3D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714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Какой тариф выбрать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2" y="1671108"/>
            <a:ext cx="4440377" cy="5801784"/>
          </a:xfrm>
        </p:spPr>
        <p:txBody>
          <a:bodyPr/>
          <a:lstStyle/>
          <a:p>
            <a:pPr marL="0" indent="0">
              <a:buNone/>
            </a:pPr>
            <a:r>
              <a:rPr lang="ru-RU" b="1" i="0" u="none" strike="noStrike" dirty="0">
                <a:effectLst/>
                <a:latin typeface="Inter" panose="02000503000000020004" pitchFamily="2" charset="0"/>
              </a:rPr>
              <a:t>Долгосрочный портфель</a:t>
            </a:r>
            <a:br>
              <a:rPr lang="ru-RU" b="1" i="0" u="none" strike="noStrike" dirty="0">
                <a:effectLst/>
                <a:latin typeface="Inter" panose="02000503000000020004" pitchFamily="2" charset="0"/>
              </a:rPr>
            </a:br>
            <a:endParaRPr lang="ru-RU" dirty="0">
              <a:effectLst/>
              <a:latin typeface="Inter" panose="02000503000000020004" pitchFamily="2" charset="0"/>
            </a:endParaRPr>
          </a:p>
          <a:p>
            <a:pPr marL="0" indent="0">
              <a:buNone/>
            </a:pPr>
            <a:r>
              <a:rPr lang="ru-RU" dirty="0"/>
              <a:t>Для кого:</a:t>
            </a:r>
            <a:br>
              <a:rPr lang="ru-RU" dirty="0"/>
            </a:br>
            <a:r>
              <a:rPr lang="ru-RU" dirty="0"/>
              <a:t>• Инвесторы, которые хотят накопить на пенсию, квартиру, образование</a:t>
            </a:r>
            <a:br>
              <a:rPr lang="ru-RU" dirty="0"/>
            </a:br>
            <a:r>
              <a:rPr lang="ru-RU" dirty="0"/>
              <a:t>• Цель — рост капитала за 3+ года</a:t>
            </a:r>
          </a:p>
          <a:p>
            <a:pPr marL="0" indent="0">
              <a:buNone/>
            </a:pPr>
            <a:r>
              <a:rPr lang="ru-RU" dirty="0"/>
              <a:t>Стратегия:</a:t>
            </a:r>
            <a:br>
              <a:rPr lang="ru-RU" dirty="0"/>
            </a:br>
            <a:r>
              <a:rPr lang="ru-RU" dirty="0"/>
              <a:t>• Акции РФ и </a:t>
            </a:r>
            <a:r>
              <a:rPr lang="en" dirty="0"/>
              <a:t>ETF </a:t>
            </a:r>
            <a:r>
              <a:rPr lang="ru-RU" dirty="0"/>
              <a:t>на индекс ММВБ</a:t>
            </a:r>
            <a:br>
              <a:rPr lang="ru-RU" dirty="0"/>
            </a:br>
            <a:r>
              <a:rPr lang="ru-RU" dirty="0"/>
              <a:t>• Облигации (ОФЗ, корпоративные)</a:t>
            </a:r>
            <a:br>
              <a:rPr lang="ru-RU" dirty="0"/>
            </a:br>
            <a:r>
              <a:rPr lang="ru-RU" dirty="0"/>
              <a:t>• Автоматическое </a:t>
            </a:r>
            <a:r>
              <a:rPr lang="ru-RU" dirty="0" err="1"/>
              <a:t>ребалансирование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Почему подходит:</a:t>
            </a:r>
            <a:br>
              <a:rPr lang="ru-RU" dirty="0"/>
            </a:br>
            <a:r>
              <a:rPr lang="ru-RU" dirty="0"/>
              <a:t>• Низкая комиссия</a:t>
            </a:r>
            <a:br>
              <a:rPr lang="ru-RU" dirty="0"/>
            </a:br>
            <a:r>
              <a:rPr lang="ru-RU" dirty="0"/>
              <a:t>• Поддержка по налогам</a:t>
            </a:r>
            <a:br>
              <a:rPr lang="ru-RU" dirty="0"/>
            </a:br>
            <a:r>
              <a:rPr lang="ru-RU" dirty="0"/>
              <a:t>• Доступ к доверительному управлению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СТА ведет на оформление</a:t>
            </a:r>
            <a:br>
              <a:rPr lang="ru-RU" dirty="0"/>
            </a:br>
            <a:r>
              <a:rPr lang="ru-RU" dirty="0"/>
              <a:t>Начните инвестировать с </a:t>
            </a:r>
            <a:br>
              <a:rPr lang="ru-RU" dirty="0"/>
            </a:br>
            <a:r>
              <a:rPr lang="ru-RU" dirty="0"/>
              <a:t>минимальными комиссиями"</a:t>
            </a: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E1E8B12-3997-454C-8EE2-100DE8E6B6E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414267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-84666"/>
            <a:ext cx="4440377" cy="1767417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Какой тариф выбрать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2" y="1225852"/>
            <a:ext cx="4440377" cy="5801784"/>
          </a:xfrm>
        </p:spPr>
        <p:txBody>
          <a:bodyPr/>
          <a:lstStyle/>
          <a:p>
            <a:pPr marL="0" indent="0">
              <a:buNone/>
            </a:pPr>
            <a:r>
              <a:rPr lang="ru-RU" b="1" i="0" u="none" strike="noStrike" dirty="0">
                <a:solidFill>
                  <a:srgbClr val="1A1A1F"/>
                </a:solidFill>
                <a:effectLst/>
                <a:latin typeface="Inter" panose="02000503000000020004" pitchFamily="2" charset="0"/>
              </a:rPr>
              <a:t>Стратег</a:t>
            </a:r>
          </a:p>
          <a:p>
            <a:pPr marL="0" indent="0" algn="l">
              <a:buNone/>
            </a:pPr>
            <a:endParaRPr lang="ru-RU" b="0" i="0" dirty="0">
              <a:solidFill>
                <a:srgbClr val="111827"/>
              </a:solidFill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Для кого: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Трейдеры, торгующие от 1 до 10 раз в месяц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Хотят минимизировать издержки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Стратегия: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Среднесрочные сделки (от 1 дня до месяца)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Использование фьючерсов и опционов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Анализ через </a:t>
            </a:r>
            <a:r>
              <a:rPr lang="en" b="0" i="0" dirty="0" err="1">
                <a:solidFill>
                  <a:srgbClr val="2C2C36"/>
                </a:solidFill>
                <a:effectLst/>
                <a:latin typeface="system-ui"/>
              </a:rPr>
              <a:t>Finam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 AI-</a:t>
            </a:r>
            <a:r>
              <a:rPr lang="ru-RU" b="0" i="0" dirty="0" err="1">
                <a:solidFill>
                  <a:srgbClr val="2C2C36"/>
                </a:solidFill>
                <a:effectLst/>
                <a:latin typeface="system-ui"/>
              </a:rPr>
              <a:t>скринер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Почему подходит: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Комиссия 0.04%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Нет абонентской платы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Поддержка по исполнению 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ордеров</a:t>
            </a:r>
          </a:p>
          <a:p>
            <a:pPr marL="0" indent="0" algn="l">
              <a:buNone/>
            </a:pPr>
            <a:endParaRPr lang="ru-RU" dirty="0">
              <a:solidFill>
                <a:srgbClr val="2C2C36"/>
              </a:solidFill>
              <a:latin typeface="system-ui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СТА ведет на оформление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"Торгуйте с выгодной 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комиссией — 0.04%"</a:t>
            </a: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E1E8B12-3997-454C-8EE2-100DE8E6B6E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315512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2" y="0"/>
            <a:ext cx="4440377" cy="1767417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Какой тариф выбрать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1" y="1408490"/>
            <a:ext cx="4440377" cy="5801784"/>
          </a:xfrm>
        </p:spPr>
        <p:txBody>
          <a:bodyPr/>
          <a:lstStyle/>
          <a:p>
            <a:pPr marL="0" indent="0">
              <a:buNone/>
            </a:pPr>
            <a:r>
              <a:rPr lang="ru-RU" b="1" i="0" u="none" strike="noStrike" dirty="0">
                <a:solidFill>
                  <a:srgbClr val="1A1A1F"/>
                </a:solidFill>
                <a:effectLst/>
                <a:latin typeface="Inter" panose="02000503000000020004" pitchFamily="2" charset="0"/>
              </a:rPr>
              <a:t>Инвестор</a:t>
            </a:r>
          </a:p>
          <a:p>
            <a:endParaRPr lang="ru-RU" b="1" dirty="0">
              <a:solidFill>
                <a:srgbClr val="1A1A1F"/>
              </a:solidFill>
              <a:latin typeface="Inter" panose="02000503000000020004" pitchFamily="2" charset="0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Для кого: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Те, кто делает 1–3 сделки в месяц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Хотят простоты и удобства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Стратегия: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Покупка акций и облигаций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Долгосрочное накопление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Использование </a:t>
            </a:r>
            <a:r>
              <a:rPr lang="ru-RU" b="0" i="0" dirty="0" err="1">
                <a:solidFill>
                  <a:srgbClr val="2C2C36"/>
                </a:solidFill>
                <a:effectLst/>
                <a:latin typeface="system-ui"/>
              </a:rPr>
              <a:t>автоследования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Почему подходит: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Простой интерфейс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Бонусы за активность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• Доступ к обучающим курсам</a:t>
            </a:r>
          </a:p>
          <a:p>
            <a:pPr marL="0" indent="0" algn="l">
              <a:buNone/>
            </a:pPr>
            <a:endParaRPr lang="ru-RU" dirty="0">
              <a:solidFill>
                <a:srgbClr val="2C2C36"/>
              </a:solidFill>
              <a:latin typeface="system-ui"/>
            </a:endParaRPr>
          </a:p>
          <a:p>
            <a:pPr marL="0" indent="0" algn="l">
              <a:buNone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СТА ведет на оформление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"Получайте доход, пока 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мы работаем за вас"</a:t>
            </a: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E1E8B12-3997-454C-8EE2-100DE8E6B6E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579598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хотите долго разбираться?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1B1F23"/>
                </a:solidFill>
                <a:effectLst/>
                <a:latin typeface="Manrope" pitchFamily="2" charset="0"/>
              </a:rPr>
              <a:t>Доверьте свои инвестиции профессионалам. Лучшие трейдеры страны эффективно управляют вашими деньгами на фондовом рынке</a:t>
            </a:r>
          </a:p>
          <a:p>
            <a:endParaRPr lang="ru-RU" dirty="0"/>
          </a:p>
          <a:p>
            <a:r>
              <a:rPr lang="ru-RU" dirty="0"/>
              <a:t>Кнопка на ДУ</a:t>
            </a: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EA5266A-5AC3-4054-ADEC-17902147ACBC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67307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EA08A-4E7F-48BE-DE0D-9B2782874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Диверсификация</a:t>
            </a:r>
            <a:r>
              <a:rPr lang="ru-RU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ый треугольник 2">
            <a:extLst>
              <a:ext uri="{FF2B5EF4-FFF2-40B4-BE49-F238E27FC236}">
                <a16:creationId xmlns:a16="http://schemas.microsoft.com/office/drawing/2014/main" id="{9F3391A5-ABA3-4722-8283-DE1F3799C3CA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07959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1300776"/>
          </a:xfrm>
        </p:spPr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диверсификация?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688757"/>
            <a:ext cx="4440377" cy="6547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Это процесс распределения капитала между разными классами активов. Не кладите все деньги в одну корзину</a:t>
            </a:r>
          </a:p>
          <a:p>
            <a:pPr marL="0" indent="0">
              <a:buNone/>
            </a:pP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Она снижает общий риск и повышает стабильность доходности вашего портфеля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F645E80A-ABAC-4986-9D60-55A0F52AEEF1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911014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43" y="486836"/>
            <a:ext cx="4440377" cy="682938"/>
          </a:xfrm>
        </p:spPr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распределить активы?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293341"/>
            <a:ext cx="4440377" cy="6942610"/>
          </a:xfrm>
        </p:spPr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Акции — для роста (например, </a:t>
            </a:r>
            <a:r>
              <a:rPr lang="ru-RU" sz="1800" b="0" i="0" dirty="0" err="1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Сбер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Газпром)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Облигации — для защиты (ОФЗ, корпоративные)</a:t>
            </a:r>
          </a:p>
          <a:p>
            <a:pPr marL="0" indent="0">
              <a:buNone/>
            </a:pP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ETF — 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диверсификации без подбора отдельных бумаг</a:t>
            </a:r>
          </a:p>
          <a:p>
            <a:pPr marL="0" indent="0">
              <a:buNone/>
            </a:pP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  <a:p>
            <a:pPr marL="0" indent="0">
              <a:buNone/>
            </a:pPr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НАЧАТЬ ИНВЕСТИРОВАТЬ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Ведем в </a:t>
            </a:r>
            <a:r>
              <a:rPr lang="ru-RU" sz="1800" dirty="0" err="1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скринер</a:t>
            </a: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подборку из ММВБ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F9846072-5E8E-4BCD-A1E7-C70D49358046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1881018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это работает?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Даже если один актив упал — другие компенсируют убыток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Рынки не всегда движутся синхронно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— не гнаться за модой, а держать баланс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2E520FCE-DFB8-4700-9C9D-EAFFDE7F3A45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969303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сбалансированного портфеля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3" y="1713470"/>
            <a:ext cx="4440377" cy="6522481"/>
          </a:xfrm>
        </p:spPr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50% — акции РФ (ликвидные, с дивидендами)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40% — облигации (ОФЗ + инвестиционный класс)</a:t>
            </a: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10% — </a:t>
            </a:r>
            <a:r>
              <a:rPr lang="en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ETF 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индекс </a:t>
            </a:r>
            <a:r>
              <a:rPr lang="en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MOEX</a:t>
            </a:r>
            <a:endParaRPr lang="ru-RU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0" i="0" dirty="0">
              <a:solidFill>
                <a:srgbClr val="2C2C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«ВЫБРАТЬ ПОРТФЕЛЬ»</a:t>
            </a:r>
          </a:p>
          <a:p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Ведем на </a:t>
            </a:r>
            <a:r>
              <a:rPr lang="ru-RU" sz="1800" dirty="0" err="1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комон</a:t>
            </a:r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стратегии от нас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294FCD8B-A805-4A31-9D46-C9818FBC9039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719729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5BED5-17E3-18A1-655A-75724465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Призыв к действию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E6EDF-345D-0075-46A2-2D643DBC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2C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Научитесь с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обирать свой диверсифицированный портфель</a:t>
            </a:r>
          </a:p>
          <a:p>
            <a:pPr marL="0" indent="0">
              <a:buNone/>
            </a:pP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8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</a:t>
            </a:r>
            <a:r>
              <a:rPr lang="ru-RU" sz="1800" b="0" i="0" dirty="0"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«Начать учиться»</a:t>
            </a:r>
          </a:p>
          <a:p>
            <a:pPr marL="0" indent="0">
              <a:buNone/>
            </a:pPr>
            <a:endParaRPr lang="ru-RU" sz="1800" dirty="0">
              <a:solidFill>
                <a:srgbClr val="2C2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1800" dirty="0"/>
              <a:t>https://</a:t>
            </a:r>
            <a:r>
              <a:rPr lang="en" sz="1800" dirty="0" err="1"/>
              <a:t>education.finam.ru</a:t>
            </a:r>
            <a:r>
              <a:rPr lang="en" sz="1800" dirty="0"/>
              <a:t>/course/</a:t>
            </a:r>
            <a:r>
              <a:rPr lang="en" sz="1800" dirty="0" err="1"/>
              <a:t>startovyi</a:t>
            </a:r>
            <a:r>
              <a:rPr lang="en" sz="1800" dirty="0"/>
              <a:t>-</a:t>
            </a:r>
            <a:r>
              <a:rPr lang="en" sz="1800" dirty="0" err="1"/>
              <a:t>kurs</a:t>
            </a:r>
            <a:r>
              <a:rPr lang="en" sz="1800" dirty="0"/>
              <a:t>-po-</a:t>
            </a:r>
            <a:r>
              <a:rPr lang="en" sz="1800" dirty="0" err="1"/>
              <a:t>investiciiam</a:t>
            </a:r>
            <a:r>
              <a:rPr lang="en" sz="1800" dirty="0"/>
              <a:t>/</a:t>
            </a:r>
            <a:endParaRPr lang="ru-RU" sz="1800" dirty="0"/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A6D37F84-54B5-4A19-BFC4-81B28CA1372B}"/>
              </a:ext>
            </a:extLst>
          </p:cNvPr>
          <p:cNvSpPr/>
          <p:nvPr/>
        </p:nvSpPr>
        <p:spPr>
          <a:xfrm rot="16200000">
            <a:off x="-115846" y="3921080"/>
            <a:ext cx="5733900" cy="47943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Зона для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26111397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1825</TotalTime>
  <Words>1285</Words>
  <Application>Microsoft Macintosh PowerPoint</Application>
  <PresentationFormat>Произвольный</PresentationFormat>
  <Paragraphs>204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Inter</vt:lpstr>
      <vt:lpstr>Manrope</vt:lpstr>
      <vt:lpstr>system-ui</vt:lpstr>
      <vt:lpstr>Times New Roman</vt:lpstr>
      <vt:lpstr>var(--ui-fonts-main)</vt:lpstr>
      <vt:lpstr>Тема Office</vt:lpstr>
      <vt:lpstr>С чего начать?</vt:lpstr>
      <vt:lpstr>Инвестиции без опыта — это реально </vt:lpstr>
      <vt:lpstr>Презентация PowerPoint</vt:lpstr>
      <vt:lpstr>Основные понятия инвестирования </vt:lpstr>
      <vt:lpstr>Начинаем инвестировать </vt:lpstr>
      <vt:lpstr>Делаем первую покупку</vt:lpstr>
      <vt:lpstr>Правила инвестирования</vt:lpstr>
      <vt:lpstr>Выберите инструмент</vt:lpstr>
      <vt:lpstr>Как выбрать первый инструмент? </vt:lpstr>
      <vt:lpstr>Готовы узнать больше? </vt:lpstr>
      <vt:lpstr>Как собрать первый портфель </vt:lpstr>
      <vt:lpstr>Принципы формирования инвестиционного портфеля </vt:lpstr>
      <vt:lpstr>Образцовая структура портфеля для начинающих </vt:lpstr>
      <vt:lpstr>Баланс риска и доходности </vt:lpstr>
      <vt:lpstr>Как избежать рисков</vt:lpstr>
      <vt:lpstr>Возможные риски инвестирования </vt:lpstr>
      <vt:lpstr>Зашита от потерь</vt:lpstr>
      <vt:lpstr>Надежные инструменты для новичков  </vt:lpstr>
      <vt:lpstr>Государственные и корпоративные облигации  </vt:lpstr>
      <vt:lpstr>Инструменты с защитой капитала </vt:lpstr>
      <vt:lpstr>Какой тариф выбрать</vt:lpstr>
      <vt:lpstr>Какой тариф выбрать</vt:lpstr>
      <vt:lpstr>Какой тариф выбрать</vt:lpstr>
      <vt:lpstr>Какой тариф выбрать</vt:lpstr>
      <vt:lpstr>Не хотите долго разбираться?</vt:lpstr>
      <vt:lpstr>Диверсификация  </vt:lpstr>
      <vt:lpstr>Что такое диверсификация? </vt:lpstr>
      <vt:lpstr>Как распределить активы?</vt:lpstr>
      <vt:lpstr>Почему это работает? </vt:lpstr>
      <vt:lpstr>Пример сбалансированного портфеля </vt:lpstr>
      <vt:lpstr>Призыв к действию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Блок 1: "С чего начать"</dc:title>
  <dc:creator>Максим Таривердиев</dc:creator>
  <cp:lastModifiedBy>Microsoft Office User</cp:lastModifiedBy>
  <cp:revision>28</cp:revision>
  <dcterms:created xsi:type="dcterms:W3CDTF">2025-10-17T10:18:48Z</dcterms:created>
  <dcterms:modified xsi:type="dcterms:W3CDTF">2025-11-18T19:42:14Z</dcterms:modified>
</cp:coreProperties>
</file>